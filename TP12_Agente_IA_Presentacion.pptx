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453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3657600" cy="36576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N.º 12  —  Sistemas Inteligentes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108960" y="45720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un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 de IA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108960" y="2560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API de Claude  ·  4 etapas acumulativas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08960" y="29992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Miguel Pérez Díaz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08960" y="3657600"/>
            <a:ext cx="1261872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0" y="36758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08960" y="396849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26280" y="3657600"/>
            <a:ext cx="1261872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36758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26280" y="396849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43600" y="3657600"/>
            <a:ext cx="126187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36758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0" y="396849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360920" y="3657600"/>
            <a:ext cx="1261872" cy="6583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60920" y="36758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60920" y="396849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108960" y="46634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Plazo: 2 semanas  |  Demo en vivo  |  Informe PDF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van a construir?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conversacional especializado, construido con Python + API de Claude, que crece en 4 etapas.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4592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11680" y="11887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011680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0" y="11887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0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03520" y="11887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03520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(E3+)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49440" y="11887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02A87F"/>
          </a:solidFill>
          <a:ln w="12700">
            <a:solidFill>
              <a:srgbClr val="02A87F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49440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usuario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664208" y="155448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2880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10128" y="155448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956048" y="155448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01968" y="155448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grupo define: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48640" y="25420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115568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Dominio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560320" y="25786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Gastronómico, académico, financiero, salud, atención al cliente...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200" y="326440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4864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115568" y="3328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Personalidad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560320" y="33284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tono, restricciones y estilo de respuesta del agente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57200" y="401421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48640" y="40416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1115568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560320" y="40782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acciones reales que puede ejecutar (Etapa 3)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sugeridos: asistente académico · atención al cliente · tutor de programación · asistente gastronómico · asesor financiero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4 etapas acumulativas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agrega funcionalidad. Podés entregar hasta donde llegues — el agente siempre es funcional.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20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188720"/>
            <a:ext cx="135331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conversacional básico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Conexión a API de Claude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prompt con personalidad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3405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Memoria de sesión (historial)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0954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Interfaz por consola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0467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0624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35024" y="4206240"/>
            <a:ext cx="859536" cy="347472"/>
          </a:xfrm>
          <a:prstGeom prst="rect">
            <a:avLst/>
          </a:prstGeom>
          <a:solidFill>
            <a:srgbClr val="E8F5F0"/>
          </a:solidFill>
          <a:ln w="12700">
            <a:solidFill>
              <a:srgbClr val="02A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5024" y="420624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A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≈ 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1188720"/>
            <a:ext cx="1920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188720"/>
            <a:ext cx="19202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99232" y="1188720"/>
            <a:ext cx="135331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Personalidad y robustez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prompt elaborado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22585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Rechaza consultas fuera del dominio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273405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Manejo de errores de API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320954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/salir y /limpiar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0" y="4206240"/>
            <a:ext cx="804672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420624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+ 25 pts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38144" y="4206240"/>
            <a:ext cx="859536" cy="347472"/>
          </a:xfrm>
          <a:prstGeom prst="rect">
            <a:avLst/>
          </a:prstGeom>
          <a:solidFill>
            <a:srgbClr val="E8F5F0"/>
          </a:solidFill>
          <a:ln w="12700">
            <a:solidFill>
              <a:srgbClr val="02A8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8144" y="420624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A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≈ 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188720"/>
            <a:ext cx="1920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188720"/>
            <a:ext cx="19202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02352" y="1188720"/>
            <a:ext cx="135331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(Function Calling)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Mínimo 2 herramientas externas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22585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decide cuándo invocarlas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273405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Coherentes con el dominio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320954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Resultado integrado en respuesta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206240"/>
            <a:ext cx="8046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20624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+ 25 pts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41264" y="4206240"/>
            <a:ext cx="859536" cy="347472"/>
          </a:xfrm>
          <a:prstGeom prst="rect">
            <a:avLst/>
          </a:prstGeom>
          <a:solidFill>
            <a:srgbClr val="E8F5F0"/>
          </a:solidFill>
          <a:ln w="12700">
            <a:solidFill>
              <a:srgbClr val="02A87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41264" y="420624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A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≈ 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75120" y="1188720"/>
            <a:ext cx="1920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75120" y="1188720"/>
            <a:ext cx="1920240" cy="5029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05472" y="1188720"/>
            <a:ext cx="135331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6656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Opción A: memoria entre sesiones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66560" y="22585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Opción B: base de conocimiento (RAG)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66560" y="273405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/ SQLite / embeddings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66560" y="320954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agente recuerda entre sesiones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6560" y="4206240"/>
            <a:ext cx="804672" cy="34747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420624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+ 25 pts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44384" y="4206240"/>
            <a:ext cx="859536" cy="347472"/>
          </a:xfrm>
          <a:prstGeom prst="rect">
            <a:avLst/>
          </a:prstGeom>
          <a:solidFill>
            <a:srgbClr val="E8F5F0"/>
          </a:solidFill>
          <a:ln w="12700">
            <a:solidFill>
              <a:srgbClr val="02A87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44384" y="420624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A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=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286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1 — Agente conversacional básico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puntos  |  El punto de partida — todos deben llegar acá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4592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170432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2070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Conexión API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508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anthropic + ANTHROPIC_API_KEY como variable de entorno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" y="1975104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20116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05840" y="2039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2313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nombre, rol, tono y dominio del agente — la personalidad completa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7472" y="2779776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281635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05840" y="2843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Memoria de sesión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" y="31181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messages[] que crece con cada turno — el agente recuerda todo lo dicho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7472" y="3584448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3621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de consola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05840" y="39227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True: input del usuario → llamada API → print respuesta → repetir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77840" y="1170432"/>
            <a:ext cx="3108960" cy="3447288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66928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agente.py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669280" y="146304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anthropic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5669280" y="1580083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5669280" y="1697126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669280" y="181417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anthropic.Anthropic(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5669280" y="1931213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api_key=os.environ[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5669280" y="2048256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'ANTHROPIC_API_KEY'])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5669280" y="2165299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5669280" y="2282342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historial = []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5669280" y="2399386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= 'Sos un asistente...'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5669280" y="2516429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5669280" y="2633472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5669280" y="2750515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 = input('Vos: ')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5669280" y="286755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msg == '/salir': break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5669280" y="2984602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historial.append({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5669280" y="3101645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'role':'user',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5669280" y="321868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'content': msg})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5669280" y="3335731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 = client.messages.create(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5669280" y="345277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model='claude-3-5-haiku...',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5669280" y="356981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max_tokens=1024,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5669280" y="3686861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system=SYSTEM,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5669280" y="380390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messages=historial)</a:t>
            </a:r>
            <a:endParaRPr lang="en-US" sz="780" dirty="0"/>
          </a:p>
        </p:txBody>
      </p:sp>
      <p:sp>
        <p:nvSpPr>
          <p:cNvPr id="45" name="Text 42"/>
          <p:cNvSpPr/>
          <p:nvPr/>
        </p:nvSpPr>
        <p:spPr>
          <a:xfrm>
            <a:off x="5669280" y="3920947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texto = resp.content[0].text</a:t>
            </a:r>
            <a:endParaRPr lang="en-US" sz="780" dirty="0"/>
          </a:p>
        </p:txBody>
      </p:sp>
      <p:sp>
        <p:nvSpPr>
          <p:cNvPr id="46" name="Text 43"/>
          <p:cNvSpPr/>
          <p:nvPr/>
        </p:nvSpPr>
        <p:spPr>
          <a:xfrm>
            <a:off x="5669280" y="403799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historial.append({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5669280" y="415503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'role':'assistant',</a:t>
            </a:r>
            <a:endParaRPr lang="en-US" sz="780" dirty="0"/>
          </a:p>
        </p:txBody>
      </p:sp>
      <p:sp>
        <p:nvSpPr>
          <p:cNvPr id="48" name="Text 45"/>
          <p:cNvSpPr/>
          <p:nvPr/>
        </p:nvSpPr>
        <p:spPr>
          <a:xfrm>
            <a:off x="5669280" y="4272077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'content': texto})</a:t>
            </a:r>
            <a:endParaRPr lang="en-US" sz="780" dirty="0"/>
          </a:p>
        </p:txBody>
      </p:sp>
      <p:sp>
        <p:nvSpPr>
          <p:cNvPr id="49" name="Text 46"/>
          <p:cNvSpPr/>
          <p:nvPr/>
        </p:nvSpPr>
        <p:spPr>
          <a:xfrm>
            <a:off x="5669280" y="438912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print(f'Agente: {texto}')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347472" y="4617720"/>
            <a:ext cx="5029200" cy="347472"/>
          </a:xfrm>
          <a:prstGeom prst="rect">
            <a:avLst/>
          </a:prstGeom>
          <a:solidFill>
            <a:srgbClr val="E8F5F0"/>
          </a:solidFill>
          <a:ln w="12700">
            <a:solidFill>
              <a:srgbClr val="02A87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38912" y="46177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A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Resultado esperado: conversación coherente que recuerda el contexto durante toda la sesión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286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2 — Personalidad, contexto y robustez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+ 25 puntos  |  El agente se especializa y deja de fallar silenciosamente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1170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 elaborado: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481328"/>
            <a:ext cx="5029200" cy="1481328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72768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Sos Olivia, asistente gastronómica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732788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especializada en cocina mediterránea.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Respondés en español, con tono amigable.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052828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SOLO respondés preguntas de cocina,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recetas e ingredientes.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372868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preguntan otra cosa, redirigís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532888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amablemente al dominio gastronómico.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692908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Nunca inventás ingredientes peligrosos.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090672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12724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Rechazo de dominio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4015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preguntan algo fuera del dominio, el agente responde amablemente que no es su especialidad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749040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78561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813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Manejo de errores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40599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alrededor de la llamada API — el programa no se cierra abruptamente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407408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44398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44714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Comandos especiales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0120" y="47183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/salir termina con despedida  |  /limpiar reinicia el historial sin cerrar el programa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1170432"/>
            <a:ext cx="3108960" cy="3401568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manejo_errores.py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0" y="1444752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69280" y="1598371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 = client.messages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0" y="175199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.create(...)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0" y="190561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texto = resp.content[0].text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0" y="2059229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0" y="22128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anthropic.APIError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0" y="2366467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as e: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0" y="2520086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print('Error de API:',e)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69280" y="2673706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print('Intentá de nuevo.')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0" y="2827325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continue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9280" y="2980944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69280" y="3134563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Comandos especiales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0" y="3288182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msg == '/salir':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69280" y="3441802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print('¡Hasta luego!')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9280" y="3595421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break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69280" y="374904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69280" y="3902659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msg == '/limpiar':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69280" y="405627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historial = []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69280" y="420989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print('Historial limpio.')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69280" y="4363517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continue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286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3 — Herramientas externas (Function Calling)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+ 25 puntos  |  El agente deja de solo hablar y empieza a actuar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459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170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function calling?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" y="1481328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" y="15727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analiza el mensaje del usuario y decide autónomamente si necesita llamar a una herramienta, cuál y con qué parámetros. El resultado vuelve al modelo y lo incorpora en su respuesta.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7472" y="2359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Ejemplos de herramientas por dominio: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" y="2697480"/>
            <a:ext cx="5029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" y="2770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 Gastronómico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874520" y="27706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buscar_receta(ingredientes)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657600" y="2770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calcular_porciones(receta, personas)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7472" y="3191256"/>
            <a:ext cx="5029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38912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Académico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74520" y="32644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buscar_wikipedia(tema)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657600" y="3264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generar_quiz(tema, cantidad)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47472" y="3685032"/>
            <a:ext cx="5029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38912" y="3758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Financiero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874520" y="37581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calcular_interes(capital, tasa, años)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57600" y="3758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convertir_moneda(monto, desde, hasta)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47472" y="4178808"/>
            <a:ext cx="5029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38912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IT / Programación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874520" y="42519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ejecutar_codigo(codigo_python)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657600" y="4251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buscar_documentacion(funcion)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577840" y="1170432"/>
            <a:ext cx="3108960" cy="3520440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66928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tools_ejemplo.py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669280" y="144475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Definir la herramienta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669280" y="1580083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669280" y="171541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'name':'calcular_imc',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669280" y="1850746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'description':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669280" y="1986077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'Calcula el IMC de un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669280" y="212140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paciente.',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669280" y="2256739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'input_schema':{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669280" y="239207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'type':'object',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669280" y="252740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'properties':{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5669280" y="2662733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'peso':{'type':'number'},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669280" y="279806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'altura':{'type':'number'}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5669280" y="2933395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}}}]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5669280" y="3068726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5669280" y="320405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Llamar con tools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5669280" y="3339389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client.messages.create(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5669280" y="347472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model=MODEL,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669280" y="3610051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tools=tools,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669280" y="374538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messages=historial)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5669280" y="388071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5669280" y="4016045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Ejecutar si usa tool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5669280" y="4151376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resp.stop_reason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5669280" y="4286707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== 'tool_use':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5669280" y="442203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ejecutar la función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5669280" y="455737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y devolver resultado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347472" y="4709160"/>
            <a:ext cx="5029200" cy="274320"/>
          </a:xfrm>
          <a:prstGeom prst="rect">
            <a:avLst/>
          </a:prstGeom>
          <a:solidFill>
            <a:srgbClr val="E8F5F0"/>
          </a:solidFill>
          <a:ln w="12700">
            <a:solidFill>
              <a:srgbClr val="02A87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38912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A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 modelo NO necesita saber cómo ejecutar la herramienta — solo decide cuándo usarla y con qué parámetros.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286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21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4 — Persistencia y contexto externo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+ 25 puntos  |  Elegir una de dos opciones — el desafío avanzado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4592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115568"/>
            <a:ext cx="4297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115568"/>
            <a:ext cx="411480" cy="171907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115568"/>
            <a:ext cx="4114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1887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Memoria persistente entre sesiones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14996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historial se guarda en JSON o SQLite al cerrar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18196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 iniciar, muestra las sesiones anteriores disponibles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21396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usuario puede retomar una conversación por fecha o ID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24597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agente recuerda lo que el usuario dijo la semana pasada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73168" y="1115568"/>
            <a:ext cx="3913632" cy="1719072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1188720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892040" y="1296619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892040" y="1404518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892040" y="1512418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892040" y="1620317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Guardar sesión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892040" y="1728216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guardar_sesion(historial):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892040" y="1836115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 = sqlite3.connect('agente.db')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892040" y="1944014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= conn.cursor()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892040" y="2051914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c.execute("""INSERT INTO sesiones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892040" y="2159813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(fecha, mensajes) VALUES (?,?)""",[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892040" y="2267712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datetime.now().isoformat(),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892040" y="2375611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json.dumps(historial)])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892040" y="2483510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conn.commit()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892040" y="2591410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conn.close()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47472" y="3035808"/>
            <a:ext cx="4297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47472" y="3035808"/>
            <a:ext cx="411480" cy="17190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7472" y="3035808"/>
            <a:ext cx="4114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68680" y="31089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conocimiento propia (RAG básico)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68680" y="34198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agente lee documentos .txt o .pdf del dominio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68680" y="3739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Busca fragmentos relevantes cuando el usuario pregunta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68680" y="40599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respuesta cita explícitamente el documento fuente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68680" y="43799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Ej: manual de productos, programa de materia, recetario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773168" y="2883390"/>
            <a:ext cx="3913632" cy="2017794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dirty="0"/>
          </a:p>
        </p:txBody>
      </p:sp>
      <p:sp>
        <p:nvSpPr>
          <p:cNvPr id="38" name="Text 35"/>
          <p:cNvSpPr/>
          <p:nvPr/>
        </p:nvSpPr>
        <p:spPr>
          <a:xfrm>
            <a:off x="4892040" y="3108960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RAG simplificado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892040" y="3216859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892040" y="3324758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892040" y="3432658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buscar_en_docs(query, carpeta):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892040" y="3540557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resultados = []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892040" y="3648456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f in os.listdir(carpeta):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4892040" y="3756355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open(f) as doc: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4892040" y="3864254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texto = doc.read()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4892040" y="3972154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query.lower() in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4892040" y="4080053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texto.lower():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892040" y="4187952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resultados.append(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4892040" y="4295851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texto[:500])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892040" y="4403750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resultados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4892040" y="4511650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4892040" y="4619549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Agregar al contexto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4892040" y="4727448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 = buscar_en_docs(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6217920" y="4725619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msg, './docs')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347472" y="4901184"/>
            <a:ext cx="8339328" cy="164592"/>
          </a:xfrm>
          <a:prstGeom prst="rect">
            <a:avLst/>
          </a:prstGeom>
          <a:solidFill>
            <a:srgbClr val="F3E8FF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38912" y="49011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 es obligatorio llegar a la Etapa 4 para aprobar. Es el desafío extra para grupos avanzados.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Entregables y puntaje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entregan?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" y="12527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8992" y="1280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Código fuente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8992" y="1527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 o carpeta .zip con todo el proyecto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" y="1965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78992" y="1993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8992" y="22402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para instalar y ejecutar desde cero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63347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6928" y="26791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78992" y="27066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Informe PDF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78992" y="29535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decisiones de diseño, dificultades, conclusiones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34670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6928" y="33924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78992" y="34198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en vivo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78992" y="36667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 10 minutos en clase — el agente funciona en tiempo real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4632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de puntaje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46320" y="1261872"/>
            <a:ext cx="347472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46320" y="1261872"/>
            <a:ext cx="201168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38928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Etapa 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23760" y="1399032"/>
            <a:ext cx="530352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23760" y="13990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818120" y="1399032"/>
            <a:ext cx="457200" cy="274320"/>
          </a:xfrm>
          <a:prstGeom prst="rect">
            <a:avLst/>
          </a:prstGeom>
          <a:solidFill>
            <a:srgbClr val="E8F5F0"/>
          </a:solidFill>
          <a:ln w="12700">
            <a:solidFill>
              <a:srgbClr val="02A87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18120" y="1399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A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N≈ 5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46320" y="2066544"/>
            <a:ext cx="3474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46320" y="2066544"/>
            <a:ext cx="20116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38928" y="2203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 + 2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223760" y="2203704"/>
            <a:ext cx="530352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223760" y="220370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818120" y="2203704"/>
            <a:ext cx="457200" cy="274320"/>
          </a:xfrm>
          <a:prstGeom prst="rect">
            <a:avLst/>
          </a:prstGeom>
          <a:solidFill>
            <a:srgbClr val="E8F5F0"/>
          </a:solidFill>
          <a:ln w="12700">
            <a:solidFill>
              <a:srgbClr val="02A87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18120" y="2203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A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N≈ 6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846320" y="2871216"/>
            <a:ext cx="347472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46320" y="2871216"/>
            <a:ext cx="20116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38928" y="3008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 + 2 + 3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223760" y="3008376"/>
            <a:ext cx="53035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23760" y="300837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pts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818120" y="3008376"/>
            <a:ext cx="457200" cy="274320"/>
          </a:xfrm>
          <a:prstGeom prst="rect">
            <a:avLst/>
          </a:prstGeom>
          <a:solidFill>
            <a:srgbClr val="E8F5F0"/>
          </a:solidFill>
          <a:ln w="12700">
            <a:solidFill>
              <a:srgbClr val="02A87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18120" y="3008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A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N≈ 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846320" y="3675888"/>
            <a:ext cx="3474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846320" y="3675888"/>
            <a:ext cx="201168" cy="6858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138928" y="3813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 + 2 + 3 + 4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223760" y="3813048"/>
            <a:ext cx="530352" cy="2743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23760" y="381304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818120" y="3813048"/>
            <a:ext cx="457200" cy="274320"/>
          </a:xfrm>
          <a:prstGeom prst="rect">
            <a:avLst/>
          </a:prstGeom>
          <a:solidFill>
            <a:srgbClr val="E8F5F0"/>
          </a:solidFill>
          <a:ln w="12700">
            <a:solidFill>
              <a:srgbClr val="02A87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818120" y="3813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A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FEF3EC"/>
          </a:solidFill>
          <a:ln w="12700">
            <a:solidFill>
              <a:srgbClr val="E87C3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66928" y="4645152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La API key NUNCA va en el código fuente. Usar variables de entorno. Exponerla implica descuento de puntos.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construir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agente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474720" y="5943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necesitás para empezar: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474720" y="10058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005072" y="1051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de Anthropic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63640" y="1051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console.anthropic.com → API Keys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74720" y="16276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005072" y="16733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63640" y="1673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python.org o ya instalado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0" y="224942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005072" y="2295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anthropic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63640" y="2295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dependencia para empezar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74720" y="287121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005072" y="2916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63640" y="2916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cualquier editor que ya usen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74720" y="34930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005072" y="3538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63640" y="3538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entregar el repositorio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474720" y="41148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4005072" y="4160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elegido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6364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definirlo antes de escribir una línea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7472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2026  |  Lic. Martín Vargas  |  Ing. Miguel Pérez Díaz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1564</Words>
  <Application>Microsoft Office PowerPoint</Application>
  <PresentationFormat>Presentación en pantalla (16:9)</PresentationFormat>
  <Paragraphs>298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Miguel Alfredo Perez Diaz</cp:lastModifiedBy>
  <cp:revision>4</cp:revision>
  <dcterms:created xsi:type="dcterms:W3CDTF">2026-05-27T16:44:00Z</dcterms:created>
  <dcterms:modified xsi:type="dcterms:W3CDTF">2026-05-30T00:12:13Z</dcterms:modified>
</cp:coreProperties>
</file>